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025" y="1787277"/>
            <a:ext cx="928688" cy="3429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200025" y="2230189"/>
            <a:ext cx="6429375" cy="3937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4800"/>
              </a:lnSpc>
              <a:buNone/>
            </a:pPr>
            <a:r>
              <a:rPr lang="en-US" sz="2650" b="1" dirty="0">
                <a:solidFill>
                  <a:srgbClr val="1A050E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Myntra Customer Analysis</a:t>
            </a:r>
            <a:endParaRPr lang="en-US" sz="2650" dirty="0"/>
          </a:p>
        </p:txBody>
      </p:sp>
      <p:sp>
        <p:nvSpPr>
          <p:cNvPr id="5" name="Text 1"/>
          <p:cNvSpPr/>
          <p:nvPr/>
        </p:nvSpPr>
        <p:spPr>
          <a:xfrm>
            <a:off x="200025" y="2695370"/>
            <a:ext cx="874395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spc="1" kern="0" dirty="0">
                <a:solidFill>
                  <a:srgbClr val="5C4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ANALYTICAL INSIGHTS &amp; FASHION MARKETPLACE DYNAMICS</a:t>
            </a:r>
            <a:endParaRPr lang="en-US" sz="800" dirty="0"/>
          </a:p>
        </p:txBody>
      </p:sp>
      <p:sp>
        <p:nvSpPr>
          <p:cNvPr id="6" name="Text 2"/>
          <p:cNvSpPr/>
          <p:nvPr/>
        </p:nvSpPr>
        <p:spPr>
          <a:xfrm>
            <a:off x="200025" y="3106136"/>
            <a:ext cx="50436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200" b="1" dirty="0">
                <a:solidFill>
                  <a:srgbClr val="D81B6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5BN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200025" y="3320448"/>
            <a:ext cx="504360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spc="1" kern="0" dirty="0">
                <a:solidFill>
                  <a:srgbClr val="5C4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SUM OF IDS</a:t>
            </a:r>
            <a:endParaRPr lang="en-US" sz="550" dirty="0"/>
          </a:p>
        </p:txBody>
      </p:sp>
      <p:sp>
        <p:nvSpPr>
          <p:cNvPr id="8" name="Text 4"/>
          <p:cNvSpPr/>
          <p:nvPr/>
        </p:nvSpPr>
        <p:spPr>
          <a:xfrm>
            <a:off x="904410" y="3106136"/>
            <a:ext cx="67212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200" b="1" dirty="0">
                <a:solidFill>
                  <a:srgbClr val="D81B6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172.85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904410" y="3320448"/>
            <a:ext cx="672126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spc="1" kern="0" dirty="0">
                <a:solidFill>
                  <a:srgbClr val="5C4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AVG. DISCOUNT</a:t>
            </a:r>
            <a:endParaRPr lang="en-US" sz="550" dirty="0"/>
          </a:p>
        </p:txBody>
      </p:sp>
      <p:sp>
        <p:nvSpPr>
          <p:cNvPr id="10" name="Text 6"/>
          <p:cNvSpPr/>
          <p:nvPr/>
        </p:nvSpPr>
        <p:spPr>
          <a:xfrm>
            <a:off x="1776561" y="3106136"/>
            <a:ext cx="61023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200" b="1" dirty="0">
                <a:solidFill>
                  <a:srgbClr val="D81B6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184M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1776561" y="3320448"/>
            <a:ext cx="610233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spc="1" kern="0" dirty="0">
                <a:solidFill>
                  <a:srgbClr val="5C4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SUM OF PRICE</a:t>
            </a:r>
            <a:endParaRPr lang="en-US" sz="550" dirty="0"/>
          </a:p>
        </p:txBody>
      </p:sp>
      <p:sp>
        <p:nvSpPr>
          <p:cNvPr id="12" name="Text 8"/>
          <p:cNvSpPr/>
          <p:nvPr/>
        </p:nvSpPr>
        <p:spPr>
          <a:xfrm>
            <a:off x="2586819" y="3106136"/>
            <a:ext cx="53410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200" b="1" dirty="0">
                <a:solidFill>
                  <a:srgbClr val="D81B6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1.77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2586819" y="3320448"/>
            <a:ext cx="534107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spc="1" kern="0" dirty="0">
                <a:solidFill>
                  <a:srgbClr val="5C4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AVG. RATING</a:t>
            </a:r>
            <a:endParaRPr lang="en-US" sz="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2678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050E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The dashboard signals scale, price depth, and a discount-led marketplace.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507206" y="1053703"/>
            <a:ext cx="996553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81B6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VOLUME &amp; SCALE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3739753" y="1053703"/>
            <a:ext cx="475059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A050E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5BN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507206" y="1539478"/>
            <a:ext cx="3707606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1A050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high Sum of ID suggests a massive marketplace reach, requiring robust infrastructure to manage millions of product interactions and customer data points.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4936331" y="1053703"/>
            <a:ext cx="885825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81B6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PRICING DEPTH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8026003" y="1053703"/>
            <a:ext cx="617934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A050E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184M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4936331" y="1539478"/>
            <a:ext cx="3707606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1A050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184M Sum of Price indicates a significant total inventory value, reflecting Myntra's commitment to breadth across budget, mid-range, and premium luxury brands.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507206" y="3153966"/>
            <a:ext cx="1042988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81B6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DISCOUNT FOCUS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3532584" y="3153966"/>
            <a:ext cx="682228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A050E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172.85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507206" y="3639741"/>
            <a:ext cx="3707606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1A050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average discount level signals an aggressive promotional strategy, typical of fashion marketplaces aiming for high conversion velocity in a price-sensitive segment.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4936331" y="3153966"/>
            <a:ext cx="1518047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81B6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CUSTOMER SATISFACTION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8243888" y="3153966"/>
            <a:ext cx="40005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A050E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1.77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4936331" y="3639741"/>
            <a:ext cx="3707606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1A050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average rating is currently low, identifying a critical opportunity to improve product quality assurance, delivery reliability, and post-purchase customer support.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285750" y="4754166"/>
            <a:ext cx="1850231" cy="103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5C4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Myntra Customer Analysis — Dashboard Data</a:t>
            </a:r>
            <a:endParaRPr lang="en-US" sz="600" dirty="0"/>
          </a:p>
        </p:txBody>
      </p:sp>
      <p:sp>
        <p:nvSpPr>
          <p:cNvPr id="17" name="Text 14"/>
          <p:cNvSpPr/>
          <p:nvPr/>
        </p:nvSpPr>
        <p:spPr>
          <a:xfrm>
            <a:off x="8576072" y="4754166"/>
            <a:ext cx="282178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5C4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Page 2</a:t>
            </a:r>
            <a:endParaRPr lang="en-US" sz="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2678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050E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Four metrics define the customer and marketplace context.</a:t>
            </a:r>
            <a:endParaRPr lang="en-US" sz="1400" dirty="0"/>
          </a:p>
        </p:txBody>
      </p:sp>
      <p:sp>
        <p:nvSpPr>
          <p:cNvPr id="4" name="Shape 1"/>
          <p:cNvSpPr/>
          <p:nvPr/>
        </p:nvSpPr>
        <p:spPr>
          <a:xfrm>
            <a:off x="285750" y="839391"/>
            <a:ext cx="2035969" cy="1221581"/>
          </a:xfrm>
          <a:prstGeom prst="rect">
            <a:avLst/>
          </a:prstGeom>
          <a:solidFill>
            <a:srgbClr val="FFFFFF"/>
          </a:solidFill>
          <a:ln w="9144">
            <a:solidFill>
              <a:srgbClr val="E0D5D9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71500" y="1125141"/>
            <a:ext cx="146446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2600" dirty="0">
                <a:solidFill>
                  <a:srgbClr val="D81B60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5BN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71500" y="1639491"/>
            <a:ext cx="1464469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50" spc="1" kern="0" dirty="0">
                <a:solidFill>
                  <a:srgbClr val="5C4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SUM OF ID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2464594" y="839391"/>
            <a:ext cx="2035969" cy="1221581"/>
          </a:xfrm>
          <a:prstGeom prst="rect">
            <a:avLst/>
          </a:prstGeom>
          <a:solidFill>
            <a:srgbClr val="FFFFFF"/>
          </a:solidFill>
          <a:ln w="9144">
            <a:solidFill>
              <a:srgbClr val="E0D5D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750344" y="1125141"/>
            <a:ext cx="146446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2600" dirty="0">
                <a:solidFill>
                  <a:srgbClr val="D81B60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172.85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2750344" y="1639491"/>
            <a:ext cx="1464469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50" spc="1" kern="0" dirty="0">
                <a:solidFill>
                  <a:srgbClr val="5C4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AVG DISCOUNT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4643438" y="839391"/>
            <a:ext cx="2035969" cy="1221581"/>
          </a:xfrm>
          <a:prstGeom prst="rect">
            <a:avLst/>
          </a:prstGeom>
          <a:solidFill>
            <a:srgbClr val="FFFFFF"/>
          </a:solidFill>
          <a:ln w="9144">
            <a:solidFill>
              <a:srgbClr val="E0D5D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929188" y="1125141"/>
            <a:ext cx="146446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2600" dirty="0">
                <a:solidFill>
                  <a:srgbClr val="D81B60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184M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4929188" y="1639491"/>
            <a:ext cx="1464469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50" spc="1" kern="0" dirty="0">
                <a:solidFill>
                  <a:srgbClr val="5C4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SUM OF PRICE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6822281" y="839391"/>
            <a:ext cx="2035969" cy="1221581"/>
          </a:xfrm>
          <a:prstGeom prst="rect">
            <a:avLst/>
          </a:prstGeom>
          <a:solidFill>
            <a:srgbClr val="FFFFFF"/>
          </a:solidFill>
          <a:ln w="9144">
            <a:solidFill>
              <a:srgbClr val="E0D5D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108031" y="1125141"/>
            <a:ext cx="146446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2600" dirty="0">
                <a:solidFill>
                  <a:srgbClr val="D81B60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1.77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7108031" y="1639491"/>
            <a:ext cx="1464469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50" spc="1" kern="0" dirty="0">
                <a:solidFill>
                  <a:srgbClr val="5C4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AVG RATING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285750" y="2475309"/>
            <a:ext cx="1483444" cy="350044"/>
          </a:xfrm>
          <a:prstGeom prst="rect">
            <a:avLst/>
          </a:prstGeom>
          <a:solidFill>
            <a:srgbClr val="310A1B"/>
          </a:solidFill>
          <a:ln/>
        </p:spPr>
      </p:sp>
      <p:sp>
        <p:nvSpPr>
          <p:cNvPr id="17" name="Text 14"/>
          <p:cNvSpPr/>
          <p:nvPr/>
        </p:nvSpPr>
        <p:spPr>
          <a:xfrm>
            <a:off x="285750" y="2475309"/>
            <a:ext cx="1483444" cy="350044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ctr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METRIC GROUP</a:t>
            </a:r>
            <a:endParaRPr lang="en-US" sz="700" dirty="0"/>
          </a:p>
        </p:txBody>
      </p:sp>
      <p:sp>
        <p:nvSpPr>
          <p:cNvPr id="18" name="Shape 15"/>
          <p:cNvSpPr/>
          <p:nvPr/>
        </p:nvSpPr>
        <p:spPr>
          <a:xfrm>
            <a:off x="1769194" y="2475309"/>
            <a:ext cx="1368307" cy="350044"/>
          </a:xfrm>
          <a:prstGeom prst="rect">
            <a:avLst/>
          </a:prstGeom>
          <a:solidFill>
            <a:srgbClr val="310A1B"/>
          </a:solidFill>
          <a:ln/>
        </p:spPr>
      </p:sp>
      <p:sp>
        <p:nvSpPr>
          <p:cNvPr id="19" name="Text 16"/>
          <p:cNvSpPr/>
          <p:nvPr/>
        </p:nvSpPr>
        <p:spPr>
          <a:xfrm>
            <a:off x="1769194" y="2475309"/>
            <a:ext cx="1368307" cy="350044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ctr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OBSERVED FIGURE</a:t>
            </a:r>
            <a:endParaRPr lang="en-US" sz="700" dirty="0"/>
          </a:p>
        </p:txBody>
      </p:sp>
      <p:sp>
        <p:nvSpPr>
          <p:cNvPr id="20" name="Shape 17"/>
          <p:cNvSpPr/>
          <p:nvPr/>
        </p:nvSpPr>
        <p:spPr>
          <a:xfrm>
            <a:off x="3137502" y="2475309"/>
            <a:ext cx="4147672" cy="350044"/>
          </a:xfrm>
          <a:prstGeom prst="rect">
            <a:avLst/>
          </a:prstGeom>
          <a:solidFill>
            <a:srgbClr val="310A1B"/>
          </a:solidFill>
          <a:ln/>
        </p:spPr>
      </p:sp>
      <p:sp>
        <p:nvSpPr>
          <p:cNvPr id="21" name="Text 18"/>
          <p:cNvSpPr/>
          <p:nvPr/>
        </p:nvSpPr>
        <p:spPr>
          <a:xfrm>
            <a:off x="3137502" y="2475309"/>
            <a:ext cx="4147672" cy="350044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ctr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ANALYTICAL CONTEXT</a:t>
            </a:r>
            <a:endParaRPr lang="en-US" sz="700" dirty="0"/>
          </a:p>
        </p:txBody>
      </p:sp>
      <p:sp>
        <p:nvSpPr>
          <p:cNvPr id="22" name="Shape 19"/>
          <p:cNvSpPr/>
          <p:nvPr/>
        </p:nvSpPr>
        <p:spPr>
          <a:xfrm>
            <a:off x="7285174" y="2475309"/>
            <a:ext cx="1573076" cy="350044"/>
          </a:xfrm>
          <a:prstGeom prst="rect">
            <a:avLst/>
          </a:prstGeom>
          <a:solidFill>
            <a:srgbClr val="310A1B"/>
          </a:solidFill>
          <a:ln/>
        </p:spPr>
      </p:sp>
      <p:sp>
        <p:nvSpPr>
          <p:cNvPr id="23" name="Text 20"/>
          <p:cNvSpPr/>
          <p:nvPr/>
        </p:nvSpPr>
        <p:spPr>
          <a:xfrm>
            <a:off x="7285174" y="2475309"/>
            <a:ext cx="1573076" cy="350044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ctr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STRATEGIC PRIORITY</a:t>
            </a:r>
            <a:endParaRPr lang="en-US" sz="700" dirty="0"/>
          </a:p>
        </p:txBody>
      </p:sp>
      <p:sp>
        <p:nvSpPr>
          <p:cNvPr id="24" name="Text 21"/>
          <p:cNvSpPr/>
          <p:nvPr/>
        </p:nvSpPr>
        <p:spPr>
          <a:xfrm>
            <a:off x="285750" y="2825353"/>
            <a:ext cx="1483444" cy="371475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ctr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A050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Engagement Scale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1769194" y="2825353"/>
            <a:ext cx="1368307" cy="371475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ctr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A050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5,000,000,000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3137502" y="2825353"/>
            <a:ext cx="4147672" cy="371475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ctr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A050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Massive ID count reflects platform-wide interaction volume.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7285174" y="2825353"/>
            <a:ext cx="1573076" cy="371475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ctr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A050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Scale Infrastructure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285750" y="3196828"/>
            <a:ext cx="8572500" cy="375047"/>
          </a:xfrm>
          <a:prstGeom prst="rect">
            <a:avLst/>
          </a:prstGeom>
          <a:solidFill>
            <a:srgbClr val="FDF8F9"/>
          </a:solidFill>
          <a:ln/>
        </p:spPr>
      </p:sp>
      <p:sp>
        <p:nvSpPr>
          <p:cNvPr id="29" name="Text 26"/>
          <p:cNvSpPr/>
          <p:nvPr/>
        </p:nvSpPr>
        <p:spPr>
          <a:xfrm>
            <a:off x="285750" y="3196828"/>
            <a:ext cx="1483444" cy="375047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ctr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A050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Commercial Offer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1769194" y="3196828"/>
            <a:ext cx="1368307" cy="375047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ctr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A050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172.85 (Avg)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3137502" y="3196828"/>
            <a:ext cx="4147672" cy="375047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ctr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A050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Aggressive discounting drives current customer acquisition.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7285174" y="3196828"/>
            <a:ext cx="1573076" cy="375047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ctr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A050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Margin Preservation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285750" y="3571875"/>
            <a:ext cx="1483444" cy="375047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ctr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A050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Assortment Value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1769194" y="3571875"/>
            <a:ext cx="1368307" cy="375047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ctr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A050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184,000,000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3137502" y="3571875"/>
            <a:ext cx="4147672" cy="375047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ctr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A050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listed price depth across the product catalog.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7285174" y="3571875"/>
            <a:ext cx="1573076" cy="375047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ctr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A050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Premium Curation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285750" y="3946922"/>
            <a:ext cx="8572500" cy="375047"/>
          </a:xfrm>
          <a:prstGeom prst="rect">
            <a:avLst/>
          </a:prstGeom>
          <a:solidFill>
            <a:srgbClr val="FDF8F9"/>
          </a:solidFill>
          <a:ln/>
        </p:spPr>
      </p:sp>
      <p:sp>
        <p:nvSpPr>
          <p:cNvPr id="38" name="Text 35"/>
          <p:cNvSpPr/>
          <p:nvPr/>
        </p:nvSpPr>
        <p:spPr>
          <a:xfrm>
            <a:off x="285750" y="3946922"/>
            <a:ext cx="1483444" cy="375047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ctr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A050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Brand Trust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1769194" y="3946922"/>
            <a:ext cx="1368307" cy="375047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ctr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A050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1.77 (Avg)</a:t>
            </a:r>
            <a:endParaRPr lang="en-US" sz="850" dirty="0"/>
          </a:p>
        </p:txBody>
      </p:sp>
      <p:sp>
        <p:nvSpPr>
          <p:cNvPr id="40" name="Text 37"/>
          <p:cNvSpPr/>
          <p:nvPr/>
        </p:nvSpPr>
        <p:spPr>
          <a:xfrm>
            <a:off x="3137502" y="3946922"/>
            <a:ext cx="4147672" cy="375047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ctr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A050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 rating average indicates a gap in user experience.</a:t>
            </a:r>
            <a:endParaRPr lang="en-US" sz="850" dirty="0"/>
          </a:p>
        </p:txBody>
      </p:sp>
      <p:sp>
        <p:nvSpPr>
          <p:cNvPr id="41" name="Text 38"/>
          <p:cNvSpPr/>
          <p:nvPr/>
        </p:nvSpPr>
        <p:spPr>
          <a:xfrm>
            <a:off x="7285174" y="3946922"/>
            <a:ext cx="1573076" cy="375047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ctr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A050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Quality Assurance</a:t>
            </a:r>
            <a:endParaRPr lang="en-US" sz="850" dirty="0"/>
          </a:p>
        </p:txBody>
      </p:sp>
      <p:sp>
        <p:nvSpPr>
          <p:cNvPr id="42" name="Text 39"/>
          <p:cNvSpPr/>
          <p:nvPr/>
        </p:nvSpPr>
        <p:spPr>
          <a:xfrm>
            <a:off x="285750" y="4754166"/>
            <a:ext cx="1535906" cy="103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5C4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Performance Matrix — Observed Data</a:t>
            </a:r>
            <a:endParaRPr lang="en-US" sz="600" dirty="0"/>
          </a:p>
        </p:txBody>
      </p:sp>
      <p:sp>
        <p:nvSpPr>
          <p:cNvPr id="43" name="Text 40"/>
          <p:cNvSpPr/>
          <p:nvPr/>
        </p:nvSpPr>
        <p:spPr>
          <a:xfrm>
            <a:off x="8576072" y="4754166"/>
            <a:ext cx="282178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5C4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Page 3</a:t>
            </a:r>
            <a:endParaRPr lang="en-US" sz="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2678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050E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Discount is the strongest visible lever in the customer journey.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285750" y="839391"/>
            <a:ext cx="4886325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C4A52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COUNT OF ID BY DISCOUNT BAND (STEPPED ANALYSIS)</a:t>
            </a:r>
            <a:endParaRPr lang="en-US" sz="8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1121569"/>
            <a:ext cx="4886325" cy="244316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772150" y="839391"/>
            <a:ext cx="3086100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050E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Promotional Sensitivity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5772150" y="1071563"/>
            <a:ext cx="3086100" cy="548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5C4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marketplace reflects a high reliance on discounting to move volume, with IDs clustered in aggressive price-reduction bands.</a:t>
            </a:r>
            <a:endParaRPr lang="en-US" sz="850" dirty="0"/>
          </a:p>
        </p:txBody>
      </p:sp>
      <p:sp>
        <p:nvSpPr>
          <p:cNvPr id="8" name="Text 4"/>
          <p:cNvSpPr/>
          <p:nvPr/>
        </p:nvSpPr>
        <p:spPr>
          <a:xfrm>
            <a:off x="5772150" y="1905819"/>
            <a:ext cx="3086100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050E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Acquisition Momentum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5772150" y="2137990"/>
            <a:ext cx="3086100" cy="548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5C4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Discounting remains the primary engine for customer onboarding, essential for competing in a crowded e-commerce landscape.</a:t>
            </a:r>
            <a:endParaRPr lang="en-US" sz="850" dirty="0"/>
          </a:p>
        </p:txBody>
      </p:sp>
      <p:sp>
        <p:nvSpPr>
          <p:cNvPr id="10" name="Text 6"/>
          <p:cNvSpPr/>
          <p:nvPr/>
        </p:nvSpPr>
        <p:spPr>
          <a:xfrm>
            <a:off x="5772150" y="2972246"/>
            <a:ext cx="3086100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050E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Retention Risk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5772150" y="3204418"/>
            <a:ext cx="3086100" cy="548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5C4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Relying heavily on a 172.85 average discount requires a transition plan toward full-price brand loyalty to preserve long-term margins.</a:t>
            </a:r>
            <a:endParaRPr lang="en-US" sz="850" dirty="0"/>
          </a:p>
        </p:txBody>
      </p:sp>
      <p:sp>
        <p:nvSpPr>
          <p:cNvPr id="12" name="Text 8"/>
          <p:cNvSpPr/>
          <p:nvPr/>
        </p:nvSpPr>
        <p:spPr>
          <a:xfrm>
            <a:off x="285750" y="4754166"/>
            <a:ext cx="2125266" cy="103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5C4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Marketplace Sensitivity — Dashboard Chart Analysis</a:t>
            </a:r>
            <a:endParaRPr lang="en-US" sz="600" dirty="0"/>
          </a:p>
        </p:txBody>
      </p:sp>
      <p:sp>
        <p:nvSpPr>
          <p:cNvPr id="13" name="Text 9"/>
          <p:cNvSpPr/>
          <p:nvPr/>
        </p:nvSpPr>
        <p:spPr>
          <a:xfrm>
            <a:off x="8572500" y="4754166"/>
            <a:ext cx="285750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5C4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Page 4</a:t>
            </a:r>
            <a:endParaRPr lang="en-US" sz="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00025" y="300038"/>
            <a:ext cx="8743950" cy="1950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4000"/>
              </a:lnSpc>
              <a:buNone/>
            </a:pPr>
            <a:r>
              <a:rPr lang="en-US" sz="1300" b="1" dirty="0">
                <a:solidFill>
                  <a:srgbClr val="1A050E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Seller performance creates a long-tail marketplace opportunity.</a:t>
            </a:r>
            <a:endParaRPr lang="en-US" sz="1300" dirty="0"/>
          </a:p>
        </p:txBody>
      </p:sp>
      <p:sp>
        <p:nvSpPr>
          <p:cNvPr id="4" name="Shape 1"/>
          <p:cNvSpPr/>
          <p:nvPr/>
        </p:nvSpPr>
        <p:spPr>
          <a:xfrm>
            <a:off x="200025" y="623627"/>
            <a:ext cx="4300538" cy="2060972"/>
          </a:xfrm>
          <a:prstGeom prst="rect">
            <a:avLst/>
          </a:prstGeom>
          <a:solidFill>
            <a:srgbClr val="FFFFFF"/>
          </a:solidFill>
          <a:ln w="9144">
            <a:solidFill>
              <a:srgbClr val="E0D5D9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42900" y="766502"/>
            <a:ext cx="4014788" cy="103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5C4A52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RATING TOTAL BY SELLER (HERO CONCENTRATION)</a:t>
            </a:r>
            <a:endParaRPr lang="en-US" sz="6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" y="955811"/>
            <a:ext cx="4014788" cy="1571625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643438" y="623627"/>
            <a:ext cx="4300538" cy="2060972"/>
          </a:xfrm>
          <a:prstGeom prst="rect">
            <a:avLst/>
          </a:prstGeom>
          <a:solidFill>
            <a:srgbClr val="FFFFFF"/>
          </a:solidFill>
          <a:ln w="9144">
            <a:solidFill>
              <a:srgbClr val="E0D5D9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4786313" y="766502"/>
            <a:ext cx="4014788" cy="103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5C4A52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AVG. PRICE BY SELLER (LUXURY VS. VOLUME)</a:t>
            </a:r>
            <a:endParaRPr lang="en-US" sz="6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6313" y="955811"/>
            <a:ext cx="4014788" cy="157162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00025" y="2784611"/>
            <a:ext cx="8743950" cy="1983842"/>
          </a:xfrm>
          <a:prstGeom prst="rect">
            <a:avLst/>
          </a:prstGeom>
          <a:noFill/>
          <a:ln/>
        </p:spPr>
        <p:txBody>
          <a:bodyPr wrap="square" lIns="0" tIns="136017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A050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dashboard highlights a sharp concentration of ratings in top-tier sellers like Biotique and HRX, while the price curve identifies luxury leaders (Tissot, Dyson) anchoring the premium segment. Success lies in balancing these high-margin heroes with a broad, reliable long-tail assortment.</a:t>
            </a:r>
            <a:endParaRPr lang="en-US" sz="850" dirty="0"/>
          </a:p>
        </p:txBody>
      </p:sp>
      <p:sp>
        <p:nvSpPr>
          <p:cNvPr id="11" name="Text 6"/>
          <p:cNvSpPr/>
          <p:nvPr/>
        </p:nvSpPr>
        <p:spPr>
          <a:xfrm>
            <a:off x="200025" y="4839891"/>
            <a:ext cx="1878806" cy="103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5C4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Competitive Landscape — Dashboard Insights</a:t>
            </a:r>
            <a:endParaRPr lang="en-US" sz="600" dirty="0"/>
          </a:p>
        </p:txBody>
      </p:sp>
      <p:sp>
        <p:nvSpPr>
          <p:cNvPr id="12" name="Text 7"/>
          <p:cNvSpPr/>
          <p:nvPr/>
        </p:nvSpPr>
        <p:spPr>
          <a:xfrm>
            <a:off x="8665369" y="4839891"/>
            <a:ext cx="278606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5C4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Page 5</a:t>
            </a:r>
            <a:endParaRPr lang="en-US" sz="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2678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050E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Myntra wins when marketplace breadth meets brand trust.</a:t>
            </a:r>
            <a:endParaRPr lang="en-US" sz="1400" dirty="0"/>
          </a:p>
        </p:txBody>
      </p:sp>
      <p:sp>
        <p:nvSpPr>
          <p:cNvPr id="4" name="Shape 1"/>
          <p:cNvSpPr/>
          <p:nvPr/>
        </p:nvSpPr>
        <p:spPr>
          <a:xfrm>
            <a:off x="285750" y="839391"/>
            <a:ext cx="2762231" cy="1885950"/>
          </a:xfrm>
          <a:prstGeom prst="rect">
            <a:avLst/>
          </a:prstGeom>
          <a:solidFill>
            <a:srgbClr val="FFFFFF"/>
          </a:solidFill>
          <a:ln w="9144">
            <a:solidFill>
              <a:srgbClr val="E0D5D9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00063" y="1053703"/>
            <a:ext cx="2333606" cy="103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D81B6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IN-HOUSE POWER</a:t>
            </a:r>
            <a:endParaRPr lang="en-US" sz="600" dirty="0"/>
          </a:p>
        </p:txBody>
      </p:sp>
      <p:sp>
        <p:nvSpPr>
          <p:cNvPr id="6" name="Text 3"/>
          <p:cNvSpPr/>
          <p:nvPr/>
        </p:nvSpPr>
        <p:spPr>
          <a:xfrm>
            <a:off x="500063" y="1243013"/>
            <a:ext cx="2333606" cy="2678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A050E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Roadster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00063" y="1625203"/>
            <a:ext cx="2333606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5C4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Leading the everyday-wear segment with massive volume and high rating density.</a:t>
            </a:r>
            <a:endParaRPr lang="en-US" sz="750" dirty="0"/>
          </a:p>
        </p:txBody>
      </p:sp>
      <p:sp>
        <p:nvSpPr>
          <p:cNvPr id="8" name="Shape 5"/>
          <p:cNvSpPr/>
          <p:nvPr/>
        </p:nvSpPr>
        <p:spPr>
          <a:xfrm>
            <a:off x="3190856" y="839391"/>
            <a:ext cx="2762231" cy="1885950"/>
          </a:xfrm>
          <a:prstGeom prst="rect">
            <a:avLst/>
          </a:prstGeom>
          <a:solidFill>
            <a:srgbClr val="FFFFFF"/>
          </a:solidFill>
          <a:ln w="9144">
            <a:solidFill>
              <a:srgbClr val="E0D5D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405169" y="1053703"/>
            <a:ext cx="2333606" cy="103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D81B6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PERFORMANCE</a:t>
            </a:r>
            <a:endParaRPr lang="en-US" sz="600" dirty="0"/>
          </a:p>
        </p:txBody>
      </p:sp>
      <p:sp>
        <p:nvSpPr>
          <p:cNvPr id="10" name="Text 7"/>
          <p:cNvSpPr/>
          <p:nvPr/>
        </p:nvSpPr>
        <p:spPr>
          <a:xfrm>
            <a:off x="3405169" y="1243013"/>
            <a:ext cx="2333606" cy="2678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A050E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HRX by Hrithik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3405169" y="1625203"/>
            <a:ext cx="2333606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5C4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Dominating the activewear category through high-rating hero product concentration.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6095963" y="839391"/>
            <a:ext cx="2762231" cy="1885950"/>
          </a:xfrm>
          <a:prstGeom prst="rect">
            <a:avLst/>
          </a:prstGeom>
          <a:solidFill>
            <a:srgbClr val="FFFFFF"/>
          </a:solidFill>
          <a:ln w="9144">
            <a:solidFill>
              <a:srgbClr val="E0D5D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310275" y="1053703"/>
            <a:ext cx="2333606" cy="103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D81B6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GLOBAL RETAIL</a:t>
            </a:r>
            <a:endParaRPr lang="en-US" sz="600" dirty="0"/>
          </a:p>
        </p:txBody>
      </p:sp>
      <p:sp>
        <p:nvSpPr>
          <p:cNvPr id="14" name="Text 11"/>
          <p:cNvSpPr/>
          <p:nvPr/>
        </p:nvSpPr>
        <p:spPr>
          <a:xfrm>
            <a:off x="6310275" y="1243013"/>
            <a:ext cx="2333606" cy="2678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A050E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H&amp;M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310275" y="1625203"/>
            <a:ext cx="2333606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5C4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Anchoring the premium-fast-fashion segment with high sum-of-price inventory value.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285750" y="2868216"/>
            <a:ext cx="2762231" cy="1885950"/>
          </a:xfrm>
          <a:prstGeom prst="rect">
            <a:avLst/>
          </a:prstGeom>
          <a:solidFill>
            <a:srgbClr val="FFFFFF"/>
          </a:solidFill>
          <a:ln w="9144">
            <a:solidFill>
              <a:srgbClr val="E0D5D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00063" y="3082528"/>
            <a:ext cx="2333606" cy="103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D81B6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SPORTSWEAR</a:t>
            </a:r>
            <a:endParaRPr lang="en-US" sz="600" dirty="0"/>
          </a:p>
        </p:txBody>
      </p:sp>
      <p:sp>
        <p:nvSpPr>
          <p:cNvPr id="18" name="Text 15"/>
          <p:cNvSpPr/>
          <p:nvPr/>
        </p:nvSpPr>
        <p:spPr>
          <a:xfrm>
            <a:off x="500063" y="3271838"/>
            <a:ext cx="2333606" cy="2678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A050E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Puma &amp; Adidas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500063" y="3654028"/>
            <a:ext cx="2333606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5C4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Driving massive ID engagement through global brand authority and discount-led velocity.</a:t>
            </a:r>
            <a:endParaRPr lang="en-US" sz="750" dirty="0"/>
          </a:p>
        </p:txBody>
      </p:sp>
      <p:sp>
        <p:nvSpPr>
          <p:cNvPr id="20" name="Shape 17"/>
          <p:cNvSpPr/>
          <p:nvPr/>
        </p:nvSpPr>
        <p:spPr>
          <a:xfrm>
            <a:off x="3190856" y="2868216"/>
            <a:ext cx="2762231" cy="1885950"/>
          </a:xfrm>
          <a:prstGeom prst="rect">
            <a:avLst/>
          </a:prstGeom>
          <a:solidFill>
            <a:srgbClr val="FFFFFF"/>
          </a:solidFill>
          <a:ln w="9144">
            <a:solidFill>
              <a:srgbClr val="E0D5D9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405169" y="3082528"/>
            <a:ext cx="2333606" cy="103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D81B6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ETHNIC CHIC</a:t>
            </a:r>
            <a:endParaRPr lang="en-US" sz="600" dirty="0"/>
          </a:p>
        </p:txBody>
      </p:sp>
      <p:sp>
        <p:nvSpPr>
          <p:cNvPr id="22" name="Text 19"/>
          <p:cNvSpPr/>
          <p:nvPr/>
        </p:nvSpPr>
        <p:spPr>
          <a:xfrm>
            <a:off x="3405169" y="3271838"/>
            <a:ext cx="2333606" cy="2678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A050E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WROGN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3405169" y="3654028"/>
            <a:ext cx="2333606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5C4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Capturing the youth-centric lifestyle market with aggressive promotional pricing.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6095963" y="2868216"/>
            <a:ext cx="2762231" cy="1885950"/>
          </a:xfrm>
          <a:prstGeom prst="rect">
            <a:avLst/>
          </a:prstGeom>
          <a:solidFill>
            <a:srgbClr val="FFFFFF"/>
          </a:solidFill>
          <a:ln w="9144">
            <a:solidFill>
              <a:srgbClr val="E0D5D9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310275" y="3082528"/>
            <a:ext cx="2333606" cy="103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D81B6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MARKETPLACE GOAL</a:t>
            </a:r>
            <a:endParaRPr lang="en-US" sz="600" dirty="0"/>
          </a:p>
        </p:txBody>
      </p:sp>
      <p:sp>
        <p:nvSpPr>
          <p:cNvPr id="26" name="Text 23"/>
          <p:cNvSpPr/>
          <p:nvPr/>
        </p:nvSpPr>
        <p:spPr>
          <a:xfrm>
            <a:off x="6310275" y="3271838"/>
            <a:ext cx="2333606" cy="2678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A050E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Luxury Leaders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6310275" y="3654028"/>
            <a:ext cx="2333606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5C4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Establishing luxury trust with Tissot and Dyson to anchor the upper-tail price spectrum.</a:t>
            </a:r>
            <a:endParaRPr lang="en-US" sz="750" dirty="0"/>
          </a:p>
        </p:txBody>
      </p:sp>
      <p:sp>
        <p:nvSpPr>
          <p:cNvPr id="28" name="Text 25"/>
          <p:cNvSpPr/>
          <p:nvPr/>
        </p:nvSpPr>
        <p:spPr>
          <a:xfrm>
            <a:off x="285750" y="4754166"/>
            <a:ext cx="1846659" cy="103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5C4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Brand Ecosystem Strategy — Myntra Portfolio</a:t>
            </a:r>
            <a:endParaRPr lang="en-US" sz="600" dirty="0"/>
          </a:p>
        </p:txBody>
      </p:sp>
      <p:sp>
        <p:nvSpPr>
          <p:cNvPr id="29" name="Text 26"/>
          <p:cNvSpPr/>
          <p:nvPr/>
        </p:nvSpPr>
        <p:spPr>
          <a:xfrm>
            <a:off x="8576072" y="4754166"/>
            <a:ext cx="282178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5C4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Page 6</a:t>
            </a:r>
            <a:endParaRPr lang="en-US" sz="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2678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050E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Price scale is broad while average rating remains a watchpoint.</a:t>
            </a:r>
            <a:endParaRPr lang="en-US" sz="1400" dirty="0"/>
          </a:p>
        </p:txBody>
      </p:sp>
      <p:sp>
        <p:nvSpPr>
          <p:cNvPr id="4" name="Shape 1"/>
          <p:cNvSpPr/>
          <p:nvPr/>
        </p:nvSpPr>
        <p:spPr>
          <a:xfrm>
            <a:off x="285750" y="1735931"/>
            <a:ext cx="4071938" cy="917972"/>
          </a:xfrm>
          <a:prstGeom prst="rect">
            <a:avLst/>
          </a:prstGeom>
          <a:solidFill>
            <a:srgbClr val="FFFFFF"/>
          </a:solidFill>
          <a:ln w="9144">
            <a:solidFill>
              <a:srgbClr val="E0D5D9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1914525"/>
            <a:ext cx="3729038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D81B6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OBSERVED SATISFACTION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457200" y="2093119"/>
            <a:ext cx="3729038" cy="382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50" dirty="0">
                <a:solidFill>
                  <a:srgbClr val="1A050E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1.77 / 5.0</a:t>
            </a:r>
            <a:endParaRPr lang="en-US" sz="2150" dirty="0"/>
          </a:p>
        </p:txBody>
      </p:sp>
      <p:sp>
        <p:nvSpPr>
          <p:cNvPr id="7" name="Shape 4"/>
          <p:cNvSpPr/>
          <p:nvPr/>
        </p:nvSpPr>
        <p:spPr>
          <a:xfrm>
            <a:off x="285750" y="2932509"/>
            <a:ext cx="4071938" cy="917972"/>
          </a:xfrm>
          <a:prstGeom prst="rect">
            <a:avLst/>
          </a:prstGeom>
          <a:solidFill>
            <a:srgbClr val="FFFFFF"/>
          </a:solidFill>
          <a:ln w="9144">
            <a:solidFill>
              <a:srgbClr val="E0D5D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3111103"/>
            <a:ext cx="3729038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D81B6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OBSERVED ASSORTMENT VALUE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457200" y="3289697"/>
            <a:ext cx="3729038" cy="382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50" dirty="0">
                <a:solidFill>
                  <a:srgbClr val="1A050E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184M Total</a:t>
            </a:r>
            <a:endParaRPr lang="en-US" sz="2150" dirty="0"/>
          </a:p>
        </p:txBody>
      </p:sp>
      <p:sp>
        <p:nvSpPr>
          <p:cNvPr id="10" name="Text 7"/>
          <p:cNvSpPr/>
          <p:nvPr/>
        </p:nvSpPr>
        <p:spPr>
          <a:xfrm>
            <a:off x="4950619" y="1591270"/>
            <a:ext cx="3907631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050E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Quality Gate Audit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950619" y="1823442"/>
            <a:ext cx="390763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5C4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Investigate the root cause of the 1.77 rating; focus on seller compliance, return processing, and sizing accuracy.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4950619" y="2394942"/>
            <a:ext cx="3907631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050E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Premium Assortment Mix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950619" y="2627114"/>
            <a:ext cx="390763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5C4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Leverage the 184M price depth to transition users from low-rating discount items to high-margin, verified-quality hero brands.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4950619" y="3198614"/>
            <a:ext cx="3907631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050E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Review Incentivization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950619" y="3430786"/>
            <a:ext cx="390763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5C4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Drive verified review volume to normalize the rating average and improve the confidence score for new customer IDs (5BN scale).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285750" y="4754166"/>
            <a:ext cx="1835944" cy="103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5C4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Quality vs. Value — Satisfaction Gap Analysis</a:t>
            </a:r>
            <a:endParaRPr lang="en-US" sz="600" dirty="0"/>
          </a:p>
        </p:txBody>
      </p:sp>
      <p:sp>
        <p:nvSpPr>
          <p:cNvPr id="17" name="Text 14"/>
          <p:cNvSpPr/>
          <p:nvPr/>
        </p:nvSpPr>
        <p:spPr>
          <a:xfrm>
            <a:off x="8579644" y="4754166"/>
            <a:ext cx="278606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5C4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Page 7</a:t>
            </a:r>
            <a:endParaRPr lang="en-US" sz="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2678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050E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Turn dashboard signals into a customer-growth playbook.</a:t>
            </a:r>
            <a:endParaRPr lang="en-US" sz="1400" dirty="0"/>
          </a:p>
        </p:txBody>
      </p:sp>
      <p:sp>
        <p:nvSpPr>
          <p:cNvPr id="4" name="Shape 1"/>
          <p:cNvSpPr/>
          <p:nvPr/>
        </p:nvSpPr>
        <p:spPr>
          <a:xfrm>
            <a:off x="285750" y="839391"/>
            <a:ext cx="2035969" cy="407194"/>
          </a:xfrm>
          <a:prstGeom prst="rect">
            <a:avLst/>
          </a:prstGeom>
          <a:solidFill>
            <a:srgbClr val="310A1B"/>
          </a:solidFill>
          <a:ln/>
        </p:spPr>
      </p:sp>
      <p:sp>
        <p:nvSpPr>
          <p:cNvPr id="5" name="Text 2"/>
          <p:cNvSpPr/>
          <p:nvPr/>
        </p:nvSpPr>
        <p:spPr>
          <a:xfrm>
            <a:off x="285750" y="839391"/>
            <a:ext cx="2035969" cy="407194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ACQUISITION</a:t>
            </a:r>
            <a:endParaRPr lang="en-US" sz="700" dirty="0"/>
          </a:p>
        </p:txBody>
      </p:sp>
      <p:sp>
        <p:nvSpPr>
          <p:cNvPr id="6" name="Shape 3"/>
          <p:cNvSpPr/>
          <p:nvPr/>
        </p:nvSpPr>
        <p:spPr>
          <a:xfrm>
            <a:off x="285750" y="1332309"/>
            <a:ext cx="2035969" cy="3421856"/>
          </a:xfrm>
          <a:prstGeom prst="rect">
            <a:avLst/>
          </a:prstGeom>
          <a:solidFill>
            <a:srgbClr val="FFFFFF"/>
          </a:solidFill>
          <a:ln w="9144">
            <a:solidFill>
              <a:srgbClr val="E0D5D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1503759"/>
            <a:ext cx="1693069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81B6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Scale Optimization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57200" y="1775222"/>
            <a:ext cx="1693069" cy="640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50" dirty="0">
                <a:solidFill>
                  <a:srgbClr val="5C4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Leverage the 5BN ID infrastructure to hyper-personalize the top-of-funnel discount experience for new fashion segments.</a:t>
            </a:r>
            <a:endParaRPr lang="en-US" sz="750" dirty="0"/>
          </a:p>
        </p:txBody>
      </p:sp>
      <p:sp>
        <p:nvSpPr>
          <p:cNvPr id="9" name="Shape 6"/>
          <p:cNvSpPr/>
          <p:nvPr/>
        </p:nvSpPr>
        <p:spPr>
          <a:xfrm>
            <a:off x="2464594" y="839391"/>
            <a:ext cx="2035969" cy="407194"/>
          </a:xfrm>
          <a:prstGeom prst="rect">
            <a:avLst/>
          </a:prstGeom>
          <a:solidFill>
            <a:srgbClr val="310A1B"/>
          </a:solidFill>
          <a:ln/>
        </p:spPr>
      </p:sp>
      <p:sp>
        <p:nvSpPr>
          <p:cNvPr id="10" name="Text 7"/>
          <p:cNvSpPr/>
          <p:nvPr/>
        </p:nvSpPr>
        <p:spPr>
          <a:xfrm>
            <a:off x="2464594" y="839391"/>
            <a:ext cx="2035969" cy="407194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CONVERSION</a:t>
            </a:r>
            <a:endParaRPr lang="en-US" sz="700" dirty="0"/>
          </a:p>
        </p:txBody>
      </p:sp>
      <p:sp>
        <p:nvSpPr>
          <p:cNvPr id="11" name="Shape 8"/>
          <p:cNvSpPr/>
          <p:nvPr/>
        </p:nvSpPr>
        <p:spPr>
          <a:xfrm>
            <a:off x="2464594" y="1332309"/>
            <a:ext cx="2035969" cy="3421856"/>
          </a:xfrm>
          <a:prstGeom prst="rect">
            <a:avLst/>
          </a:prstGeom>
          <a:solidFill>
            <a:srgbClr val="FFFFFF"/>
          </a:solidFill>
          <a:ln w="9144">
            <a:solidFill>
              <a:srgbClr val="E0D5D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636044" y="1503759"/>
            <a:ext cx="1693069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81B6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Discount Precision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2636044" y="1775222"/>
            <a:ext cx="1693069" cy="640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50" dirty="0">
                <a:solidFill>
                  <a:srgbClr val="5C4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Optimize the 172.85 avg discount by applying it to high-velocity sellers like HRX, while maintaining full-price luxury tiers.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4643438" y="839391"/>
            <a:ext cx="2035969" cy="407194"/>
          </a:xfrm>
          <a:prstGeom prst="rect">
            <a:avLst/>
          </a:prstGeom>
          <a:solidFill>
            <a:srgbClr val="310A1B"/>
          </a:solidFill>
          <a:ln/>
        </p:spPr>
      </p:sp>
      <p:sp>
        <p:nvSpPr>
          <p:cNvPr id="15" name="Text 12"/>
          <p:cNvSpPr/>
          <p:nvPr/>
        </p:nvSpPr>
        <p:spPr>
          <a:xfrm>
            <a:off x="4643438" y="839391"/>
            <a:ext cx="2035969" cy="407194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RETENTION</a:t>
            </a:r>
            <a:endParaRPr lang="en-US" sz="700" dirty="0"/>
          </a:p>
        </p:txBody>
      </p:sp>
      <p:sp>
        <p:nvSpPr>
          <p:cNvPr id="16" name="Shape 13"/>
          <p:cNvSpPr/>
          <p:nvPr/>
        </p:nvSpPr>
        <p:spPr>
          <a:xfrm>
            <a:off x="4643438" y="1332309"/>
            <a:ext cx="2035969" cy="3421856"/>
          </a:xfrm>
          <a:prstGeom prst="rect">
            <a:avLst/>
          </a:prstGeom>
          <a:solidFill>
            <a:srgbClr val="FFFFFF"/>
          </a:solidFill>
          <a:ln w="9144">
            <a:solidFill>
              <a:srgbClr val="E0D5D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814888" y="1503759"/>
            <a:ext cx="1693069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81B6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Rating Recovery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4814888" y="1775222"/>
            <a:ext cx="1693069" cy="8000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50" dirty="0">
                <a:solidFill>
                  <a:srgbClr val="5C4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Address the 1.77 rating gap through proactive customer service and AI-driven sizing recommendations to reduce returns.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6822281" y="839391"/>
            <a:ext cx="2035969" cy="407194"/>
          </a:xfrm>
          <a:prstGeom prst="rect">
            <a:avLst/>
          </a:prstGeom>
          <a:solidFill>
            <a:srgbClr val="310A1B"/>
          </a:solidFill>
          <a:ln/>
        </p:spPr>
      </p:sp>
      <p:sp>
        <p:nvSpPr>
          <p:cNvPr id="20" name="Text 17"/>
          <p:cNvSpPr/>
          <p:nvPr/>
        </p:nvSpPr>
        <p:spPr>
          <a:xfrm>
            <a:off x="6822281" y="839391"/>
            <a:ext cx="2035969" cy="407194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MIX SHIFT</a:t>
            </a:r>
            <a:endParaRPr lang="en-US" sz="700" dirty="0"/>
          </a:p>
        </p:txBody>
      </p:sp>
      <p:sp>
        <p:nvSpPr>
          <p:cNvPr id="21" name="Shape 18"/>
          <p:cNvSpPr/>
          <p:nvPr/>
        </p:nvSpPr>
        <p:spPr>
          <a:xfrm>
            <a:off x="6822281" y="1332309"/>
            <a:ext cx="2035969" cy="3421856"/>
          </a:xfrm>
          <a:prstGeom prst="rect">
            <a:avLst/>
          </a:prstGeom>
          <a:solidFill>
            <a:srgbClr val="FFFFFF"/>
          </a:solidFill>
          <a:ln w="9144">
            <a:solidFill>
              <a:srgbClr val="E0D5D9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993731" y="1503759"/>
            <a:ext cx="1693069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81B6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Price Value Depth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6993731" y="1775222"/>
            <a:ext cx="1693069" cy="640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50" dirty="0">
                <a:solidFill>
                  <a:srgbClr val="5C4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Utilize the 184M inventory depth to up-sell budget customers into mid-range private labels with higher verified quality.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285750" y="4754166"/>
            <a:ext cx="1689497" cy="103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5C4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Strategic Growth Matrix — Execution Plan</a:t>
            </a:r>
            <a:endParaRPr lang="en-US" sz="600" dirty="0"/>
          </a:p>
        </p:txBody>
      </p:sp>
      <p:sp>
        <p:nvSpPr>
          <p:cNvPr id="25" name="Text 22"/>
          <p:cNvSpPr/>
          <p:nvPr/>
        </p:nvSpPr>
        <p:spPr>
          <a:xfrm>
            <a:off x="8576072" y="4754166"/>
            <a:ext cx="282178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5C4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Page 8</a:t>
            </a:r>
            <a:endParaRPr lang="en-US" sz="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2678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050E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A repeatable visual system can make analytics more actionable.</a:t>
            </a:r>
            <a:endParaRPr lang="en-US" sz="1400" dirty="0"/>
          </a:p>
        </p:txBody>
      </p:sp>
      <p:sp>
        <p:nvSpPr>
          <p:cNvPr id="4" name="Shape 1"/>
          <p:cNvSpPr/>
          <p:nvPr/>
        </p:nvSpPr>
        <p:spPr>
          <a:xfrm>
            <a:off x="285750" y="839391"/>
            <a:ext cx="4071938" cy="934380"/>
          </a:xfrm>
          <a:prstGeom prst="rect">
            <a:avLst/>
          </a:prstGeom>
          <a:solidFill>
            <a:srgbClr val="FFFFFF"/>
          </a:solidFill>
          <a:ln w="9144">
            <a:solidFill>
              <a:srgbClr val="E0D5D9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28625" y="982266"/>
            <a:ext cx="37861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A050E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Editorial Hierarchy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428625" y="1296591"/>
            <a:ext cx="3786188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50" dirty="0">
                <a:solidFill>
                  <a:srgbClr val="5C4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Combine Playfair Display for authoritative insights and Inter for high-density data execution.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285750" y="1902358"/>
            <a:ext cx="4071938" cy="689372"/>
          </a:xfrm>
          <a:prstGeom prst="rect">
            <a:avLst/>
          </a:prstGeom>
          <a:solidFill>
            <a:srgbClr val="FFFFFF"/>
          </a:solidFill>
          <a:ln w="9144">
            <a:solidFill>
              <a:srgbClr val="E0D5D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28625" y="2045233"/>
            <a:ext cx="3786188" cy="103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D81B6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ACTION-FIRST MOTIF</a:t>
            </a:r>
            <a:endParaRPr lang="en-US" sz="600" dirty="0"/>
          </a:p>
        </p:txBody>
      </p:sp>
      <p:sp>
        <p:nvSpPr>
          <p:cNvPr id="9" name="Text 6"/>
          <p:cNvSpPr/>
          <p:nvPr/>
        </p:nvSpPr>
        <p:spPr>
          <a:xfrm>
            <a:off x="428625" y="2313124"/>
            <a:ext cx="3786188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C4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slide anchored by a functional brand rule and takeaway bullet.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5043488" y="892969"/>
            <a:ext cx="1575197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76000"/>
              </a:lnSpc>
              <a:buNone/>
            </a:pPr>
            <a:r>
              <a:rPr lang="en-US" sz="850" dirty="0">
                <a:solidFill>
                  <a:srgbClr val="5C4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#FDF8F9 (Page Background)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5043488" y="1144395"/>
            <a:ext cx="1696641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76000"/>
              </a:lnSpc>
              <a:buNone/>
            </a:pPr>
            <a:r>
              <a:rPr lang="en-US" sz="850" dirty="0">
                <a:solidFill>
                  <a:srgbClr val="5C4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#1A050E (Primary Typography)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5043488" y="1395822"/>
            <a:ext cx="1628775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76000"/>
              </a:lnSpc>
              <a:buNone/>
            </a:pPr>
            <a:r>
              <a:rPr lang="en-US" sz="850" dirty="0">
                <a:solidFill>
                  <a:srgbClr val="5C4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#D81B60 (KPI &amp; Accent Focal)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5043488" y="1647248"/>
            <a:ext cx="1893094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76000"/>
              </a:lnSpc>
              <a:buNone/>
            </a:pPr>
            <a:r>
              <a:rPr lang="en-US" sz="850" dirty="0">
                <a:solidFill>
                  <a:srgbClr val="5C4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#F57C00 (Secondary Data Accent)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5043488" y="1898675"/>
            <a:ext cx="159305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76000"/>
              </a:lnSpc>
              <a:buNone/>
            </a:pPr>
            <a:r>
              <a:rPr lang="en-US" sz="850" dirty="0">
                <a:solidFill>
                  <a:srgbClr val="5C4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#310A1B (Structural Headers)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285750" y="4754166"/>
            <a:ext cx="1639491" cy="103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5C4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Myntra Reporting Design System — V1.0</a:t>
            </a:r>
            <a:endParaRPr lang="en-US" sz="600" dirty="0"/>
          </a:p>
        </p:txBody>
      </p:sp>
      <p:sp>
        <p:nvSpPr>
          <p:cNvPr id="16" name="Text 13"/>
          <p:cNvSpPr/>
          <p:nvPr/>
        </p:nvSpPr>
        <p:spPr>
          <a:xfrm>
            <a:off x="8576072" y="4754166"/>
            <a:ext cx="282178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5C4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Page 9</a:t>
            </a:r>
            <a:endParaRPr lang="en-US" sz="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3375" y="1206233"/>
            <a:ext cx="857250" cy="85725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285750" y="2349233"/>
            <a:ext cx="8572500" cy="5486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3300" b="1" dirty="0">
                <a:solidFill>
                  <a:srgbClr val="1A050E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Make every customer signal shoppable.</a:t>
            </a:r>
            <a:endParaRPr lang="en-US" sz="3300" dirty="0"/>
          </a:p>
        </p:txBody>
      </p:sp>
      <p:sp>
        <p:nvSpPr>
          <p:cNvPr id="5" name="Text 1"/>
          <p:cNvSpPr/>
          <p:nvPr/>
        </p:nvSpPr>
        <p:spPr>
          <a:xfrm>
            <a:off x="285750" y="3126451"/>
            <a:ext cx="8572500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400" b="1" spc="2" kern="0" dirty="0">
                <a:solidFill>
                  <a:srgbClr val="D81B6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FROM 5BN IDS TO A PREMIUM MARKETPLACE EXPERIENCE.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285750" y="3797964"/>
            <a:ext cx="8572500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50" spc="1" kern="0" dirty="0">
                <a:solidFill>
                  <a:srgbClr val="5C4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Thank You | Myntra Customer Analysis Dashboard Story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2026-10-09T09:07:25Z</dcterms:created>
  <dcterms:modified xsi:type="dcterms:W3CDTF">2026-10-09T09:07:25Z</dcterms:modified>
</cp:coreProperties>
</file>